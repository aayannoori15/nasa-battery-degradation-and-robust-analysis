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1.jpg" ContentType="image/jpg"/>
  <Override PartName="/ppt/media/image-3-1.jpg" ContentType="image/jpg"/>
  <Override PartName="/ppt/media/image-4-1.jpg" ContentType="image/jpg"/>
  <Override PartName="/ppt/media/image-4-2.jpg" ContentType="image/jpg"/>
  <Override PartName="/ppt/media/image-5-1.jpg" ContentType="image/jpg"/>
  <Override PartName="/ppt/media/image-5-2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8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</a:rPr>
              <a:t>ML Review 1  |  AI Investment Committee: NIFTY 50 BUY / HOLD / SELL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ML REVIEW 1  ·  SRM INSTITUTE OF SCIENCE AND 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Investment Committee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A data-driven BUY / HOLD / SELL decision system for NIFTY 50 stocks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</a:rPr>
              <a:t>Team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Shaik Akbar Basha  -  RA2411026010158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Muthaluru Ranga Mokshagnya  -  RA2411026010155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Batchu Jatadhar  -  RA2411026010169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B.Tech CSE  ·  Department of Computational Intelligence  ·  October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73152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9144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914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914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55"/>
                </a:solidFill>
              </a:rPr>
              <a:t>Top third of weekly returns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783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55"/>
                </a:solidFill>
              </a:rPr>
              <a:t>Middle third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SELL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55"/>
                </a:solidFill>
              </a:rPr>
              <a:t>Bottom third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50 stocks  ·  287 weeks  ·  13 features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data-driven committee?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Analyst BUY / HOLD / SELL calls are often subjective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Two analysts can read the same chart differently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Hard to check afterwards if a call was justified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Public price data can yield measurable indicators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8" name="Image 0" descr="img/f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255" y="1078992"/>
            <a:ext cx="3966290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63440" y="3264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Growth of ₹100: five sample stocks vs NIFTY 50 (2020–2025)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23386B"/>
          </a:solidFill>
          <a:ln w="12700">
            <a:solidFill>
              <a:srgbClr val="1F1B4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4864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Statistical analysis of returns and indicators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8328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SVM classification and regression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21792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OUTCOME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Honest comparison against baselines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and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19456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15568"/>
            <a:ext cx="64008" cy="5760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73,009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43380"/>
            <a:ext cx="192024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daily stock-days, 2020–2025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219456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002536"/>
            <a:ext cx="64008" cy="576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stocks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0348"/>
            <a:ext cx="192024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NIFTY 50, across 18 sectors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19456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89504"/>
            <a:ext cx="64008" cy="5760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2825496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14,104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17316"/>
            <a:ext cx="192024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weekly rows after cleaning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219456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776472"/>
            <a:ext cx="64008" cy="5760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" y="3712464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+ 2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04284"/>
            <a:ext cx="192024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features and two targets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34640" y="1005840"/>
            <a:ext cx="5852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21" name="Image 0" descr="img/f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650" y="1078992"/>
            <a:ext cx="5544140" cy="22402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2926080" y="32644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Project workflow with anti-leakage safeguards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834640" y="3657600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2971800" y="3657600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Targets: </a:t>
            </a:r>
            <a:pPr indent="0" marL="0">
              <a:buNone/>
            </a:pPr>
            <a:r>
              <a:rPr lang="en-US" sz="1100" dirty="0">
                <a:solidFill>
                  <a:srgbClr val="2D2A55"/>
                </a:solidFill>
              </a:rPr>
              <a:t>5-day forward return (regression) and BUY / HOLD / SELL terciles across the 50 stocks each week (classification). Classes are balanced, so the majority baseline is only 34.0%.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1: Returns Are Not Normal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img/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3236976" cy="2240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538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Daily returns vs fitted normal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31920" y="1005840"/>
            <a:ext cx="2560320" cy="2788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f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078992"/>
            <a:ext cx="2414016" cy="22219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23360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Normal Q-Q plot: fat tails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675120" y="100584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675120" y="1115568"/>
            <a:ext cx="64008" cy="6492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6858000" y="105156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148361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excess kurtosis of daily returns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75120" y="1938528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675120" y="2048256"/>
            <a:ext cx="64008" cy="6492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858000" y="1984248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~100×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41630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more 4σ moves than normal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675120" y="2871216"/>
            <a:ext cx="2011680" cy="923544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675120" y="2980944"/>
            <a:ext cx="64008" cy="7040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6858000" y="2916936"/>
            <a:ext cx="1737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4.0%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3379165"/>
            <a:ext cx="1737360" cy="36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median outliers per variable (IQR rule)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3386B"/>
          </a:solidFill>
          <a:ln w="12700">
            <a:solidFill>
              <a:srgbClr val="1F1B4D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Outliers are genuine events, mostly the 2020 crash, so robust and non-parametric methods are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1: Real but Weak Signals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img/f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51" y="1078992"/>
            <a:ext cx="3352298" cy="2331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3558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Feature correlation with 5-day forward return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06240" y="1005840"/>
            <a:ext cx="44805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f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128" y="1078992"/>
            <a:ext cx="3768784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33558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PCA scree plot: four components explain 75%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" y="3749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7200" y="3858768"/>
            <a:ext cx="64008" cy="6492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640080" y="3794760"/>
            <a:ext cx="2377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1.1%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22681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variance explained by the strongest feature (ATR)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46120" y="3749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246120" y="3858768"/>
            <a:ext cx="64008" cy="6492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3429000" y="3794760"/>
            <a:ext cx="2377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of 7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422681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hypothesis tests significant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3749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035040" y="3858768"/>
            <a:ext cx="64008" cy="6492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6217920" y="3794760"/>
            <a:ext cx="2377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0.2%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422681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of return variance explained by sector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2: Support Vector Machines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Linear, polynomial and RBF kernels for BUY / HOLD / SELL, plus SVR for returns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Chronological split: train 2020–2023 (8,954 rows), test 2024–2025 (5,150 rows)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Test set used once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Train-only scaler and date-aware cross-validation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A55"/>
                </a:solidFill>
              </a:rPr>
              <a:t>Baselines: Logistic Regression, LDA, KNN, Linear and Ridge Regression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1005840"/>
            <a:ext cx="44805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8" name="Image 0" descr="img/f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345" y="1078992"/>
            <a:ext cx="4312351" cy="18745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28986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Cross-validated macro F1 over the RBF C × γ grid and overfitting gap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06240" y="33375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251960" y="33375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55"/>
                </a:solidFill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C = 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42432" y="33375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88152" y="33375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55"/>
                </a:solidFill>
              </a:rPr>
              <a:t>Poly d = 3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C = 10, γ = 0.1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78624" y="33375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324344" y="33375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RBF (selected)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 = 1, γ = 0.05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Results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731520"/>
                <a:gridCol w="73152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(pp)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d =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d =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(selected)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005840"/>
            <a:ext cx="3794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img/f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078992"/>
            <a:ext cx="3648456" cy="16391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983480" y="2944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Confusion matrix, RBF SVM, 2024–2025 test set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457200" y="3493008"/>
            <a:ext cx="64008" cy="9692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640080" y="3429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+1.15 pp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0370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accuracy over the 34% baseline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1460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514600" y="3493008"/>
            <a:ext cx="64008" cy="9692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2697480" y="3429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40370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macro F1: 0.339 vs 0.169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572000" y="3493008"/>
            <a:ext cx="64008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4754880" y="3429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754880" y="40370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HOLD recall: unsure means HOLD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629400" y="338328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629400" y="3493008"/>
            <a:ext cx="64008" cy="9692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 txBox="1"/>
          <p:nvPr/>
        </p:nvSpPr>
        <p:spPr>
          <a:xfrm>
            <a:off x="6812280" y="3429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≈ 0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812280" y="40370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SVR cannot predict return size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and Strategy Check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937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img/f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4791456" cy="1777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443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Eight classifiers on the same test set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32120" y="1005840"/>
            <a:ext cx="3154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f2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1078992"/>
            <a:ext cx="3008376" cy="18279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23560" y="29443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90"/>
                </a:solidFill>
              </a:rPr>
              <a:t>BUY portfolio vs NIFTY 50 (gross of costs)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7200" y="3493008"/>
            <a:ext cx="64008" cy="9692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64008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≈ LR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037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LDA and KNN score the same; McNemar finds no significant difference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4612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246120" y="3493008"/>
            <a:ext cx="64008" cy="9692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34290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 1.13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4037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SVM BUY portfolio vs 0.38 for NIFTY 50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FA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035040" y="3493008"/>
            <a:ext cx="64008" cy="9692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621792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Caution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4037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55"/>
                </a:solidFill>
              </a:rPr>
              <a:t>103 test weeks, rising market, no transaction costs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463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4D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43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Stock returns are fat-tailed and every signal is weak, but real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4D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Tuned RBF SVM: 35.2% accuracy and 0.339 macro F1 vs 34.0% and 0.169 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4D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Simple models match the SVM; honest evaluation matters more than kernel choice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4D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Exact return prediction fails (R² ≈ 0); ranking stocks in thirds is more useful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0" y="3657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51460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77724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Market noise: 1 pp edge may be luck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Survivorship bias, current index list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Single 103-week test period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Price features only, no costs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92608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Fundamentals, FII/DII flows, news sentiment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20 and 60-day horizons, walk-forward retraining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Point-in-time universe, net of costs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2A55"/>
                </a:solidFill>
              </a:rPr>
              <a:t>Multi-agent committee with an LLM analyst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Gold">
  <a:themeElements>
    <a:clrScheme name="Midnight Gold">
      <a:dk1>
        <a:srgbClr val="1F1B4D"/>
      </a:dk1>
      <a:lt1>
        <a:srgbClr val="FFFFFF"/>
      </a:lt1>
      <a:dk2>
        <a:srgbClr val="4C1D95"/>
      </a:dk2>
      <a:lt2>
        <a:srgbClr val="FFF7ED"/>
      </a:lt2>
      <a:accent1>
        <a:srgbClr val="6D28D9"/>
      </a:accent1>
      <a:accent2>
        <a:srgbClr val="F59E0B"/>
      </a:accent2>
      <a:accent3>
        <a:srgbClr val="0F766E"/>
      </a:accent3>
      <a:accent4>
        <a:srgbClr val="E11D48"/>
      </a:accent4>
      <a:accent5>
        <a:srgbClr val="2563EB"/>
      </a:accent5>
      <a:accent6>
        <a:srgbClr val="7C3AED"/>
      </a:accent6>
      <a:hlink>
        <a:srgbClr val="6D28D9"/>
      </a:hlink>
      <a:folHlink>
        <a:srgbClr val="4C1D95"/>
      </a:folHlink>
    </a:clrScheme>
    <a:fontScheme name="Midnight Gol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Investment Committee - ML Review 1</dc:title>
  <dc:subject>PptxGenJS Presentation</dc:subject>
  <dc:creator>Shaik Akbar Basha</dc:creator>
  <cp:lastModifiedBy>Shaik Akbar Basha</cp:lastModifiedBy>
  <cp:revision>1</cp:revision>
  <dcterms:created xsi:type="dcterms:W3CDTF">2026-10-05T12:53:41Z</dcterms:created>
  <dcterms:modified xsi:type="dcterms:W3CDTF">2026-10-05T12:53:41Z</dcterms:modified>
</cp:coreProperties>
</file>