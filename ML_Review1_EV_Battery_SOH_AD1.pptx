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6"/>
    <p:sldId id="261" r:id="rId5"/>
    <p:sldId id="262" r:id="rId4"/>
    <p:sldId id="263" r:id="rId3"/>
    <p:sldId id="264" r:id="rId2"/>
    <p:sldId id="265" r:id="rId16"/>
    <p:sldId id="266" r:id="rId17"/>
    <p:sldId id="267" r:id="rId18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3CF"/>
                </a:solidFill>
              </a:rPr>
              <a:t>ML Review 1  |  Explainable Multimodal Physics-Aware SOH Estimation for EV Batteries  |  Group AD1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8B3C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89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6692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E4DEFA"/>
                </a:solidFill>
                <a:latin typeface="Calibri"/>
              </a:rPr>
              <a:t>ML REVIEW 1  ·  SRM INSTITUTE OF SCIENCE AND TECHNOLOGY  ·  GROUP AD1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52120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Explainable Multimodal Physics-Aware Deep Learning for EV Battery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95728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E4DEFA"/>
                </a:solidFill>
                <a:latin typeface="Calibri"/>
              </a:rPr>
              <a:t>Estimating State of Health from ten minutes of voltage, current and temperature - with robust linear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63824"/>
            <a:ext cx="20116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Georgia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47872"/>
            <a:ext cx="5212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Swastik Mukherjee  -  RA2411026010181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Prahladh Alarpati  -  RA2411026010171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Aayan Noori  -  RA2411026010165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4DEFA"/>
                </a:solidFill>
                <a:latin typeface="Calibri"/>
              </a:rPr>
              <a:t>B.Tech CSE  ·  Department of Computational Intelligence  ·  October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731520"/>
            <a:ext cx="2743200" cy="3611880"/>
          </a:xfrm>
          <a:prstGeom prst="roundRect">
            <a:avLst>
              <a:gd name="adj" fmla="val 3000"/>
            </a:avLst>
          </a:prstGeom>
          <a:solidFill>
            <a:srgbClr val="2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932688"/>
            <a:ext cx="914400" cy="65836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932688"/>
            <a:ext cx="914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Georgia"/>
              </a:rPr>
              <a:t>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932688"/>
            <a:ext cx="1371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E4DEFA"/>
                </a:solidFill>
                <a:latin typeface="Calibri"/>
              </a:rPr>
              <a:t>10 min of V, I and 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E4DEFA"/>
                </a:solidFill>
                <a:latin typeface="Calibri"/>
              </a:rPr>
              <a:t>from one discharge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65376"/>
            <a:ext cx="914400" cy="658368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865376"/>
            <a:ext cx="914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Georgia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65376"/>
            <a:ext cx="1371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E4DEFA"/>
                </a:solidFill>
                <a:latin typeface="Calibri"/>
              </a:rPr>
              <a:t>15 physics features -&gt;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E4DEFA"/>
                </a:solidFill>
                <a:latin typeface="Calibri"/>
              </a:rPr>
              <a:t>robust linear 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798064"/>
            <a:ext cx="914400" cy="658368"/>
          </a:xfrm>
          <a:prstGeom prst="roundRect">
            <a:avLst>
              <a:gd name="adj" fmla="val 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798064"/>
            <a:ext cx="914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Georgia"/>
              </a:rPr>
              <a:t>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798064"/>
            <a:ext cx="1371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E4DEFA"/>
                </a:solidFill>
                <a:latin typeface="Calibri"/>
              </a:rPr>
              <a:t>State of Health,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E4DEFA"/>
                </a:solidFill>
                <a:latin typeface="Calibri"/>
              </a:rPr>
              <a:t>with a reason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6732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Georgia"/>
              </a:rPr>
              <a:t>636 cycles · 4 cells · MAE 1.14 pp on an unseen cell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Problem and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931920" cy="24688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11D48"/>
                </a:solidFill>
                <a:latin typeface="Georgia"/>
              </a:rPr>
              <a:t>Why State of Health is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5661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2D2A55"/>
                </a:solidFill>
                <a:latin typeface="Calibri"/>
              </a:rPr>
              <a:t>•  An EV battery's real capacity is only known by fully discharging it - which no car can do on the road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2D2A55"/>
                </a:solidFill>
                <a:latin typeface="Calibri"/>
              </a:rPr>
              <a:t>•  Battery Management Systems must instead infer it from short, noisy sensor windows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2D2A55"/>
                </a:solidFill>
                <a:latin typeface="Calibri"/>
              </a:rPr>
              <a:t>•  Deep models can do this but give no reason, and nobody certifies a black box for a safety system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 b="0">
                <a:solidFill>
                  <a:srgbClr val="2D2A55"/>
                </a:solidFill>
                <a:latin typeface="Calibri"/>
              </a:rPr>
              <a:t>•  Capacity labels themselves come from coulomb counters that drift and glitch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05840"/>
            <a:ext cx="4114800" cy="24688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1_soh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848" y="1078992"/>
            <a:ext cx="3367103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81728" y="3218688"/>
            <a:ext cx="396849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Capacity fade of the four NASA cells used in this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730752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Georgia"/>
              </a:rPr>
              <a:t>UNIT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50208"/>
            <a:ext cx="22860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Statistical analysis of a 15,064-cycle battery ageing dataset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65760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3730752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Georgia"/>
              </a:rPr>
              <a:t>UNIT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950208"/>
            <a:ext cx="22860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Robust linear regression on physics-aware multimodal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65760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730752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59E0B"/>
                </a:solidFill>
                <a:latin typeface="Georgia"/>
              </a:rPr>
              <a:t>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950208"/>
            <a:ext cx="22860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An SOH estimate that is accurate, explainable and fault-tolerant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Two Datasets, Two Jobs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2194560" cy="77724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64008" cy="55778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69848"/>
            <a:ext cx="1920240" cy="373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D4ED8"/>
                </a:solidFill>
                <a:latin typeface="Georgia"/>
              </a:rPr>
              <a:t>169,766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8915"/>
            <a:ext cx="1920240" cy="3497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6890"/>
                </a:solidFill>
                <a:latin typeface="Calibri"/>
              </a:rPr>
              <a:t>raw sensor samples (NASA)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92808"/>
            <a:ext cx="2194560" cy="77724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02536"/>
            <a:ext cx="64008" cy="5577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56816"/>
            <a:ext cx="1920240" cy="373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Georgia"/>
              </a:rPr>
              <a:t>636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65883"/>
            <a:ext cx="1920240" cy="3497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6890"/>
                </a:solidFill>
                <a:latin typeface="Calibri"/>
              </a:rPr>
              <a:t>discharge cycles, 4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79776"/>
            <a:ext cx="2194560" cy="77724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89504"/>
            <a:ext cx="64008" cy="5577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43784"/>
            <a:ext cx="1920240" cy="373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59E0B"/>
                </a:solidFill>
                <a:latin typeface="Georgia"/>
              </a:rPr>
              <a:t>15,064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52851"/>
            <a:ext cx="1920240" cy="3497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6890"/>
                </a:solidFill>
                <a:latin typeface="Calibri"/>
              </a:rPr>
              <a:t>cycles, 14 cells (HNEI)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66744"/>
            <a:ext cx="2194560" cy="77724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76472"/>
            <a:ext cx="64008" cy="55778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30752"/>
            <a:ext cx="1920240" cy="373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11D48"/>
                </a:solidFill>
                <a:latin typeface="Georgia"/>
              </a:rPr>
              <a:t>15 + 8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39819"/>
            <a:ext cx="1920240" cy="3497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6890"/>
                </a:solidFill>
                <a:latin typeface="Calibri"/>
              </a:rPr>
              <a:t>engineered and measured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1005840"/>
            <a:ext cx="2834640" cy="25146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1097280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D4ED8"/>
                </a:solidFill>
                <a:latin typeface="Georgia"/>
              </a:rPr>
              <a:t>Dataset A - NASA PCoE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1463040"/>
            <a:ext cx="24688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4 cells (B0005/6/7/18) cycled to failure at 24 degC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Within-cycle traces: voltage, current, temperature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Used for the MODEL - label is measured capacity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Split by cell: train on 3, test on the 4th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1005840"/>
            <a:ext cx="2834640" cy="25146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097280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Georgia"/>
              </a:rPr>
              <a:t>Dataset B - HNEI 18650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463040"/>
            <a:ext cx="24688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14 NMC-LCO cells, 8 cycle-summary measurements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Cell identity had to be rebuilt from cycle-index resets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Used for the STATISTICS - label is remaining useful life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Deliberately a different lab, chemistry and format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3657600"/>
            <a:ext cx="5852160" cy="82296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3730752"/>
            <a:ext cx="557784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1">
                <a:solidFill>
                  <a:srgbClr val="E11D48"/>
                </a:solidFill>
                <a:latin typeface="Georgia"/>
              </a:rPr>
              <a:t>The leakage trap we had to design around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Full discharge duration correlates 0.997 with the capacity label - because the label IS that duration, integrated. Using it would score a fake R2 of 1.0, so every feature here is capped at the first 600 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Unit 1: Nothing in This Data Is Normal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206240" cy="27432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2_qq_norm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627852"/>
            <a:ext cx="4059935" cy="12797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3493007"/>
            <a:ext cx="40599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Normal Q-Q plots - every variable leaves the line at the 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005840"/>
            <a:ext cx="3886200" cy="27432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1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441825"/>
            <a:ext cx="3739896" cy="16517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0328" y="3493007"/>
            <a:ext cx="373989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The four most skewed columns, raw (blue) vs log-transformed (orange)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8620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995928"/>
            <a:ext cx="64008" cy="64922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50208"/>
            <a:ext cx="2286000" cy="416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D4ED8"/>
                </a:solidFill>
                <a:latin typeface="Georgia"/>
              </a:rPr>
              <a:t>9 of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03166"/>
            <a:ext cx="2286000" cy="390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variables reject normality (D'Agostino and Shapiro, p &lt; 0.001)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88620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3995928"/>
            <a:ext cx="64008" cy="6492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950208"/>
            <a:ext cx="2286000" cy="416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59E0B"/>
                </a:solidFill>
                <a:latin typeface="Georgia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303166"/>
            <a:ext cx="2286000" cy="390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of them are rescued by a log transform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88620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995928"/>
            <a:ext cx="64008" cy="64922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950208"/>
            <a:ext cx="2286000" cy="416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11D48"/>
                </a:solidFill>
                <a:latin typeface="Georgia"/>
              </a:rPr>
              <a:t>1.8%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303166"/>
            <a:ext cx="2286000" cy="390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median share of cycles flagged as IQR outliers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Unit 1: Outliers Hide the Strongest Signal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029200" cy="256032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4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58" y="1078992"/>
            <a:ext cx="4841083" cy="2194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3310128"/>
            <a:ext cx="488289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Same eight columns, two definitions of correlation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1005840"/>
            <a:ext cx="3063240" cy="256032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097280"/>
            <a:ext cx="2697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11D48"/>
                </a:solidFill>
                <a:latin typeface="Georgia"/>
              </a:rPr>
              <a:t>What the gap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463040"/>
            <a:ext cx="2697480" cy="201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'Discharge time' scores Pearson r = +0.01 (p = 0.14, not significant)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The same pair scores Spearman rho = +0.96 - near-perfect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A handful of cycles logged for days flatten the straight-line fit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Anyone reporting only Pearson r would discard the best feature in the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0332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813048"/>
            <a:ext cx="64008" cy="64922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67328"/>
            <a:ext cx="2286000" cy="416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Georgia"/>
              </a:rPr>
              <a:t>0.96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20286"/>
            <a:ext cx="2286000" cy="390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Spearman rho, strongest monotone 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70332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3813048"/>
            <a:ext cx="64008" cy="64922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767328"/>
            <a:ext cx="2286000" cy="416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E11D48"/>
                </a:solidFill>
                <a:latin typeface="Georgia"/>
              </a:rPr>
              <a:t>0.01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20286"/>
            <a:ext cx="2286000" cy="390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Pearson r on the very same pair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70332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813048"/>
            <a:ext cx="64008" cy="64922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767328"/>
            <a:ext cx="2286000" cy="416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D4ED8"/>
                </a:solidFill>
                <a:latin typeface="Georgia"/>
              </a:rPr>
              <a:t>8 of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120286"/>
            <a:ext cx="2286000" cy="390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features still significant after Holm-Bonferroni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Unit 1: Structure, Groups and Hypothesis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846320" cy="2286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8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70092"/>
            <a:ext cx="4700016" cy="1738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3035808"/>
            <a:ext cx="47000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PCA on rank-transformed features, and the cycles in PC1-PC2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1005840"/>
            <a:ext cx="3246120" cy="2286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0" y="1097280"/>
            <a:ext cx="2880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Georgia"/>
              </a:rPr>
              <a:t>Six formal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463040"/>
            <a:ext cx="2880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2D2A55"/>
                </a:solidFill>
                <a:latin typeface="Calibri"/>
              </a:rPr>
              <a:t>•  H1 cells differ in voltage level - Kruskal-Wallis, reject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2D2A55"/>
                </a:solidFill>
                <a:latin typeface="Calibri"/>
              </a:rPr>
              <a:t>•  H2 variances differ across cells - Levene, reject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2D2A55"/>
                </a:solidFill>
                <a:latin typeface="Calibri"/>
              </a:rPr>
              <a:t>•  H3/H4 early vs late life - Mann-Whitney, reject (CLES 0.98)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2D2A55"/>
                </a:solidFill>
                <a:latin typeface="Calibri"/>
              </a:rPr>
              <a:t>•  H5 fade within one cell - Spearman rho = -0.96, reject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2D2A55"/>
                </a:solidFill>
                <a:latin typeface="Calibri"/>
              </a:rPr>
              <a:t>•  H6 cells differ in RUL - cannot reject, and that is 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538728"/>
            <a:ext cx="64008" cy="64922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93008"/>
            <a:ext cx="2286000" cy="416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D4ED8"/>
                </a:solidFill>
                <a:latin typeface="Georgia"/>
              </a:rPr>
              <a:t>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5966"/>
            <a:ext cx="2286000" cy="390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of all variance sits in PC1 alone - one latent ageing axis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42900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3538728"/>
            <a:ext cx="64008" cy="6492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493008"/>
            <a:ext cx="2286000" cy="416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59E0B"/>
                </a:solidFill>
                <a:latin typeface="Georgia"/>
              </a:rPr>
              <a:t>5 of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845966"/>
            <a:ext cx="2286000" cy="390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hypotheses reject H0 at alpha = 0.05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42900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538728"/>
            <a:ext cx="64008" cy="64922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493008"/>
            <a:ext cx="2286000" cy="416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Georgia"/>
              </a:rPr>
              <a:t>98.2%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845966"/>
            <a:ext cx="2286000" cy="390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chance a random early cycle outranks a late 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70832"/>
            <a:ext cx="8229600" cy="384048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70832"/>
            <a:ext cx="7863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2D2A55"/>
                </a:solidFill>
                <a:latin typeface="Calibri"/>
              </a:rPr>
              <a:t>Conclusion that drives Unit 2: non-Gaussian, outlier-heavy, one dominant latent axis, and cells that differ from each other -&gt; a ROBUST LINEAR fit validated by holding out whole cells.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Unit 2: Multimodal Physics-Aware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8229600" cy="20574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2_multimodal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258" y="1078992"/>
            <a:ext cx="5467483" cy="1691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2807208"/>
            <a:ext cx="808329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One cell, three sensors, fresh cycle vs end of life. Shaded band = the only 600 s we allow the model to see.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46120"/>
            <a:ext cx="2560320" cy="13258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355848"/>
            <a:ext cx="64008" cy="110642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1927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D4ED8"/>
                </a:solidFill>
                <a:latin typeface="Georgia"/>
              </a:rPr>
              <a:t>ELECTRICAL  (8)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2D2A55"/>
                </a:solidFill>
                <a:latin typeface="Calibri"/>
              </a:rPr>
              <a:t>Internal resistance from the first loaded sample · voltage at 60 / 300 / 600 s · plateau slope · 3.9-&gt;3.8 V crossing time · energy and RMS current in the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246120"/>
            <a:ext cx="2560320" cy="13258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3355848"/>
            <a:ext cx="64008" cy="110642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31927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Georgia"/>
              </a:rPr>
              <a:t>THERMAL  (4)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6616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2D2A55"/>
                </a:solidFill>
                <a:latin typeface="Calibri"/>
              </a:rPr>
              <a:t>Temperature rise · temperature at 600 s · heating rate · thermal dose above ambient (K·h)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246120"/>
            <a:ext cx="2560320" cy="13258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3355848"/>
            <a:ext cx="64008" cy="11064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31927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Georgia"/>
              </a:rPr>
              <a:t>PHYSICS COUPLINGS  (3)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6616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2D2A55"/>
                </a:solidFill>
                <a:latin typeface="Calibri"/>
              </a:rPr>
              <a:t>Joule heat I²Rt · Arrhenius rate factor exp(-Ea/RT) for SEI growth · degrees of heating per Wh delivered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Unit 2: Five Lines, Five Definitions of 'Fit'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657600" cy="356616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291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D4ED8"/>
                </a:solidFill>
                <a:latin typeface="Georgia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918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Target: SOH = measured capacity / 2.00 Ah rated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504 training cycles (B0005/6/7), 132 test cycles (B0018, never seen)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All 15 features standardised inside the pipeline, so coefficients are comparable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OLS squares the error - one bad point bends the whole line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Huber squares small errors, switches to absolute past 1.35 sigma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RANSAC fits random subsets and keeps the consensus fit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Theil-Sen takes the median of pairwise slopes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2D2A55"/>
                </a:solidFill>
                <a:latin typeface="Calibri"/>
              </a:rPr>
              <a:t>•  Quantile regression fits the conditional median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05840"/>
            <a:ext cx="4389120" cy="22402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5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231" y="1078992"/>
            <a:ext cx="2976016" cy="18745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07408" y="2990088"/>
            <a:ext cx="424281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Mean absolute error on the held-out cell, in SOH percentage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383280"/>
            <a:ext cx="1389888" cy="118872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493008"/>
            <a:ext cx="64008" cy="9692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3447288"/>
            <a:ext cx="1115568" cy="5705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Georgia"/>
              </a:rPr>
              <a:t>1.14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953865"/>
            <a:ext cx="1115568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B6890"/>
                </a:solidFill>
                <a:latin typeface="Calibri"/>
              </a:rPr>
              <a:t>Huber MAE on an unseen cell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97296" y="3383280"/>
            <a:ext cx="1389888" cy="118872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97296" y="3493008"/>
            <a:ext cx="64008" cy="96926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0176" y="3447288"/>
            <a:ext cx="1115568" cy="5705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11D48"/>
                </a:solidFill>
                <a:latin typeface="Georgia"/>
              </a:rPr>
              <a:t>7.0 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0176" y="3953865"/>
            <a:ext cx="1115568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B6890"/>
                </a:solidFill>
                <a:latin typeface="Calibri"/>
              </a:rPr>
              <a:t>predict-the-mean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912" y="3383280"/>
            <a:ext cx="1389888" cy="118872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96912" y="3493008"/>
            <a:ext cx="64008" cy="9692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3447288"/>
            <a:ext cx="1115568" cy="5705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59E0B"/>
                </a:solidFill>
                <a:latin typeface="Georgia"/>
              </a:rPr>
              <a:t>0.953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3953865"/>
            <a:ext cx="1115568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B6890"/>
                </a:solidFill>
                <a:latin typeface="Calibri"/>
              </a:rPr>
              <a:t>R² on the held-out cell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Results on a Cell the Model Has Never Seen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937760" cy="233172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12_trajectory_he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1" y="1078992"/>
            <a:ext cx="3341597" cy="19659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3081528"/>
            <a:ext cx="4791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Cell B0018: measured ageing curve vs the curve predicted from 10-minute windows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005840"/>
            <a:ext cx="3154680" cy="233172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8_pr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428" y="1078992"/>
            <a:ext cx="2046063" cy="19659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41848" y="3081528"/>
            <a:ext cx="300837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Predicted vs measured, with the +/- 2 pp band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1920240" cy="1143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584448"/>
            <a:ext cx="64008" cy="92354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38727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F766E"/>
                </a:solidFill>
                <a:latin typeface="Georgia"/>
              </a:rPr>
              <a:t>77%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59"/>
            <a:ext cx="164592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B6890"/>
                </a:solidFill>
                <a:latin typeface="Calibri"/>
              </a:rPr>
              <a:t>of test cycles land within 2 percentage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474720"/>
            <a:ext cx="1920240" cy="1143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3584448"/>
            <a:ext cx="64008" cy="92354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3538727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D4ED8"/>
                </a:solidFill>
                <a:latin typeface="Georgia"/>
              </a:rPr>
              <a:t>6.2x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023359"/>
            <a:ext cx="164592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B6890"/>
                </a:solidFill>
                <a:latin typeface="Calibri"/>
              </a:rPr>
              <a:t>better than the predict-the-mean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74720"/>
            <a:ext cx="1920240" cy="1143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3584448"/>
            <a:ext cx="64008" cy="923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538727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59E0B"/>
                </a:solidFill>
                <a:latin typeface="Georgia"/>
              </a:rPr>
              <a:t>3.7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023359"/>
            <a:ext cx="164592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B6890"/>
                </a:solidFill>
                <a:latin typeface="Calibri"/>
              </a:rPr>
              <a:t>best leave-one-cell-out CV (Theil-Sen)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59" y="3474720"/>
            <a:ext cx="1920240" cy="1143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59" y="3584448"/>
            <a:ext cx="64008" cy="92354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538727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11D48"/>
                </a:solidFill>
                <a:latin typeface="Georgia"/>
              </a:rPr>
              <a:t>10.0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23359"/>
            <a:ext cx="164592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6B6890"/>
                </a:solidFill>
                <a:latin typeface="Calibri"/>
              </a:rPr>
              <a:t>same CV for OLS - robust fits transfer better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The Experiment That Justifies 'Robust'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937760" cy="278892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6_contam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42" y="1078992"/>
            <a:ext cx="3747275" cy="24231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3538728"/>
            <a:ext cx="4791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Test error on clean data as a growing share of TRAINING labels is corrupted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005840"/>
            <a:ext cx="3154680" cy="278892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097280"/>
            <a:ext cx="2788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E11D48"/>
                </a:solidFill>
                <a:latin typeface="Georgia"/>
              </a:rPr>
              <a:t>How the test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463040"/>
            <a:ext cx="2788920" cy="2240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2D2A55"/>
                </a:solidFill>
                <a:latin typeface="Calibri"/>
              </a:rPr>
              <a:t>•  Replace p% of training capacity labels with sensor-fault values: half stuck low at 35% SOH, half spiking to 160%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2D2A55"/>
                </a:solidFill>
                <a:latin typeface="Calibri"/>
              </a:rPr>
              <a:t>•  The test set stays clean, so any loss is the model being fooled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2D2A55"/>
                </a:solidFill>
                <a:latin typeface="Calibri"/>
              </a:rPr>
              <a:t>•  OLS peaks at an error of 31 pp - it is predicting nonsense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2D2A55"/>
                </a:solidFill>
                <a:latin typeface="Calibri"/>
              </a:rPr>
              <a:t>•  Theil-Sen is the instructive failure: its breakdown point is ~29% and it collapses right on cue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900" b="0">
                <a:solidFill>
                  <a:srgbClr val="2D2A55"/>
                </a:solidFill>
                <a:latin typeface="Calibri"/>
              </a:rPr>
              <a:t>•  Huber, Quantile and RANSAC never move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560320" cy="77724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041648"/>
            <a:ext cx="64008" cy="557784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95928"/>
            <a:ext cx="2286000" cy="373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11D48"/>
                </a:solidFill>
                <a:latin typeface="Georgia"/>
              </a:rPr>
              <a:t>29x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04995"/>
            <a:ext cx="2286000" cy="3497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worse: OLS at its worst contamination level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931920"/>
            <a:ext cx="2560320" cy="77724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4041648"/>
            <a:ext cx="64008" cy="5577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995928"/>
            <a:ext cx="2286000" cy="373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F766E"/>
                </a:solidFill>
                <a:latin typeface="Georgia"/>
              </a:rPr>
              <a:t>1.1x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304995"/>
            <a:ext cx="2286000" cy="3497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worse: Huber at its worst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931920"/>
            <a:ext cx="2560320" cy="77724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4041648"/>
            <a:ext cx="64008" cy="5577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995928"/>
            <a:ext cx="2286000" cy="373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59E0B"/>
                </a:solidFill>
                <a:latin typeface="Georgia"/>
              </a:rPr>
              <a:t>1.29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304995"/>
            <a:ext cx="2286000" cy="3497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Huber's worst-case error, still under 1.3 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20040"/>
            <a:ext cx="73152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Explainability: Every Prediction Has a Reason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4114800" cy="27432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7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69" y="1078992"/>
            <a:ext cx="3291260" cy="23774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3493007"/>
            <a:ext cx="396849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Effect on SOH per standard deviation, with 95% bootstrap intervals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005840"/>
            <a:ext cx="3977639" cy="27432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11_single_cycle_expla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156412"/>
            <a:ext cx="3831335" cy="22225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18888" y="3493007"/>
            <a:ext cx="38313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One cycle decomposed: intercept plus a named contribution per feature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8620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995928"/>
            <a:ext cx="64008" cy="64922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50208"/>
            <a:ext cx="2286000" cy="416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D4ED8"/>
                </a:solidFill>
                <a:latin typeface="Georgia"/>
              </a:rPr>
              <a:t>8 of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03166"/>
            <a:ext cx="2286000" cy="390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coefficients keep their sign in 95% of bootstrap resamples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88620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3995928"/>
            <a:ext cx="64008" cy="64922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950208"/>
            <a:ext cx="2286000" cy="416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59E0B"/>
                </a:solidFill>
                <a:latin typeface="Georgia"/>
              </a:rPr>
              <a:t>20 pairs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303166"/>
            <a:ext cx="2286000" cy="390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of features correlate above 0.9 - credit is shared, so read them as groups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886200"/>
            <a:ext cx="2560320" cy="86868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995928"/>
            <a:ext cx="64008" cy="64922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950208"/>
            <a:ext cx="2286000" cy="4169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F766E"/>
                </a:solidFill>
                <a:latin typeface="Georgia"/>
              </a:rPr>
              <a:t>0.3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303166"/>
            <a:ext cx="2286000" cy="3909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6890"/>
                </a:solidFill>
                <a:latin typeface="Calibri"/>
              </a:rPr>
              <a:t>gap between true and predicted SOH on the worked example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201168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07008"/>
            <a:ext cx="8046720" cy="566928"/>
          </a:xfrm>
          <a:prstGeom prst="roundRect">
            <a:avLst>
              <a:gd name="adj" fmla="val 8000"/>
            </a:avLst>
          </a:prstGeom>
          <a:solidFill>
            <a:srgbClr val="1F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329184" cy="329184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1B4D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07008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E4DEFA"/>
                </a:solidFill>
                <a:latin typeface="Calibri"/>
              </a:rPr>
              <a:t>Ten minutes of voltage, current and temperature is enough to estimate State of Health to 1.14 pp on a cell the model never saw.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8046720" cy="566928"/>
          </a:xfrm>
          <a:prstGeom prst="roundRect">
            <a:avLst>
              <a:gd name="adj" fmla="val 8000"/>
            </a:avLst>
          </a:prstGeom>
          <a:solidFill>
            <a:srgbClr val="1F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93391"/>
            <a:ext cx="329184" cy="329184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93391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1B4D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74519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E4DEFA"/>
                </a:solidFill>
                <a:latin typeface="Calibri"/>
              </a:rPr>
              <a:t>Robustness is not a detail: with 20% faulty labels OLS degrades 29x while Huber stays within 1.1x.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032"/>
            <a:ext cx="8046720" cy="566928"/>
          </a:xfrm>
          <a:prstGeom prst="roundRect">
            <a:avLst>
              <a:gd name="adj" fmla="val 8000"/>
            </a:avLst>
          </a:prstGeom>
          <a:solidFill>
            <a:srgbClr val="1F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660904"/>
            <a:ext cx="329184" cy="329184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66090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1B4D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42032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E4DEFA"/>
                </a:solidFill>
                <a:latin typeface="Calibri"/>
              </a:rPr>
              <a:t>Physics-aware features keep the model readable - internal resistance, plateau voltage and temperature rise carry the signal, with intervals.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09544"/>
            <a:ext cx="8046720" cy="566928"/>
          </a:xfrm>
          <a:prstGeom prst="roundRect">
            <a:avLst>
              <a:gd name="adj" fmla="val 8000"/>
            </a:avLst>
          </a:prstGeom>
          <a:solidFill>
            <a:srgbClr val="1F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328415"/>
            <a:ext cx="329184" cy="329184"/>
          </a:xfrm>
          <a:prstGeom prst="roundRect">
            <a:avLst>
              <a:gd name="adj" fmla="val 1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328415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F1B4D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09544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E4DEFA"/>
                </a:solidFill>
                <a:latin typeface="Calibri"/>
              </a:rPr>
              <a:t>The statistics decided the modelling: non-Gaussian, outlier-heavy data with cell-to-cell differences demands a robust fit and grouped validation.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3931920" cy="914400"/>
          </a:xfrm>
          <a:prstGeom prst="roundRect">
            <a:avLst>
              <a:gd name="adj" fmla="val 4000"/>
            </a:avLst>
          </a:prstGeom>
          <a:solidFill>
            <a:srgbClr val="2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041648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11D48"/>
                </a:solidFill>
                <a:latin typeface="Georgia"/>
              </a:rPr>
              <a:t>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261104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E4DEFA"/>
                </a:solidFill>
                <a:latin typeface="Calibri"/>
              </a:rPr>
              <a:t>Only 4 cells, one ambient temperature (24 degC) · constant-current discharge only, not a real drive cycle · 20 correlated feature pairs blur individual coefficients · single held-out cell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3977639"/>
            <a:ext cx="3931920" cy="914400"/>
          </a:xfrm>
          <a:prstGeom prst="roundRect">
            <a:avLst>
              <a:gd name="adj" fmla="val 4000"/>
            </a:avLst>
          </a:prstGeom>
          <a:solidFill>
            <a:srgbClr val="2D2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1" y="4041648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Georgia"/>
              </a:rPr>
              <a:t>Future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1" y="4261104"/>
            <a:ext cx="3657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E4DEFA"/>
                </a:solidFill>
                <a:latin typeface="Calibri"/>
              </a:rPr>
              <a:t>More cells and varied temperatures · physics-informed neural network with the same features as inputs · per-cell random effects · online recursive update inside a live BMS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Gold">
  <a:themeElements>
    <a:clrScheme name="Midnight Gold">
      <a:dk1>
        <a:srgbClr val="1F1B4D"/>
      </a:dk1>
      <a:lt1>
        <a:srgbClr val="FFFFFF"/>
      </a:lt1>
      <a:dk2>
        <a:srgbClr val="4C1D95"/>
      </a:dk2>
      <a:lt2>
        <a:srgbClr val="FFF7ED"/>
      </a:lt2>
      <a:accent1>
        <a:srgbClr val="6D28D9"/>
      </a:accent1>
      <a:accent2>
        <a:srgbClr val="F59E0B"/>
      </a:accent2>
      <a:accent3>
        <a:srgbClr val="0F766E"/>
      </a:accent3>
      <a:accent4>
        <a:srgbClr val="E11D48"/>
      </a:accent4>
      <a:accent5>
        <a:srgbClr val="2563EB"/>
      </a:accent5>
      <a:accent6>
        <a:srgbClr val="7C3AED"/>
      </a:accent6>
      <a:hlink>
        <a:srgbClr val="6D28D9"/>
      </a:hlink>
      <a:folHlink>
        <a:srgbClr val="4C1D95"/>
      </a:folHlink>
    </a:clrScheme>
    <a:fontScheme name="Midnight Gold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Investment Committee - ML Review 1</dc:title>
  <dc:subject>PptxGenJS Presentation</dc:subject>
  <dc:creator>Shaik Akbar Basha</dc:creator>
  <cp:lastModifiedBy>Shaik Akbar Basha</cp:lastModifiedBy>
  <cp:revision>1</cp:revision>
  <dcterms:created xsi:type="dcterms:W3CDTF">2026-10-05T12:53:41Z</dcterms:created>
  <dcterms:modified xsi:type="dcterms:W3CDTF">2026-10-05T12:53:41Z</dcterms:modified>
</cp:coreProperties>
</file>